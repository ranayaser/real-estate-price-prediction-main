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Medium Italics" charset="1" panose="00000600000000000000"/>
      <p:regular r:id="rId17"/>
    </p:embeddedFont>
    <p:embeddedFont>
      <p:font typeface="Montserrat" charset="1" panose="00000500000000000000"/>
      <p:regular r:id="rId18"/>
    </p:embeddedFont>
    <p:embeddedFont>
      <p:font typeface="Montserrat Italics" charset="1" panose="00000500000000000000"/>
      <p:regular r:id="rId19"/>
    </p:embeddedFont>
    <p:embeddedFont>
      <p:font typeface="Montserrat Medium" charset="1" panose="000006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13761"/>
            <a:ext cx="8445913" cy="1629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3"/>
              </a:lnSpc>
            </a:pPr>
            <a:r>
              <a:rPr lang="en-US" b="true" sz="6050" i="true">
                <a:solidFill>
                  <a:srgbClr val="3779E3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Market Intelligence &amp; Investment Analysis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164420" y="3015967"/>
            <a:ext cx="6955937" cy="6968607"/>
          </a:xfrm>
          <a:custGeom>
            <a:avLst/>
            <a:gdLst/>
            <a:ahLst/>
            <a:cxnLst/>
            <a:rect r="r" b="b" t="t" l="l"/>
            <a:pathLst>
              <a:path h="6968607" w="6955937">
                <a:moveTo>
                  <a:pt x="0" y="0"/>
                </a:moveTo>
                <a:lnTo>
                  <a:pt x="6955937" y="0"/>
                </a:lnTo>
                <a:lnTo>
                  <a:pt x="6955937" y="6968608"/>
                </a:lnTo>
                <a:lnTo>
                  <a:pt x="0" y="6968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087" y="8067321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8"/>
                </a:lnTo>
                <a:lnTo>
                  <a:pt x="0" y="2381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61088" y="5531713"/>
            <a:ext cx="995648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Real Estate Market Dashboard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77493" y="9481896"/>
            <a:ext cx="805104" cy="805104"/>
          </a:xfrm>
          <a:custGeom>
            <a:avLst/>
            <a:gdLst/>
            <a:ahLst/>
            <a:cxnLst/>
            <a:rect r="r" b="b" t="t" l="l"/>
            <a:pathLst>
              <a:path h="805104" w="805104">
                <a:moveTo>
                  <a:pt x="0" y="0"/>
                </a:moveTo>
                <a:lnTo>
                  <a:pt x="805104" y="0"/>
                </a:lnTo>
                <a:lnTo>
                  <a:pt x="805104" y="805104"/>
                </a:lnTo>
                <a:lnTo>
                  <a:pt x="0" y="805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5293" y="1704688"/>
            <a:ext cx="6842469" cy="6382158"/>
          </a:xfrm>
          <a:custGeom>
            <a:avLst/>
            <a:gdLst/>
            <a:ahLst/>
            <a:cxnLst/>
            <a:rect r="r" b="b" t="t" l="l"/>
            <a:pathLst>
              <a:path h="6382158" w="6842469">
                <a:moveTo>
                  <a:pt x="0" y="0"/>
                </a:moveTo>
                <a:lnTo>
                  <a:pt x="6842469" y="0"/>
                </a:lnTo>
                <a:lnTo>
                  <a:pt x="6842469" y="6382158"/>
                </a:lnTo>
                <a:lnTo>
                  <a:pt x="0" y="6382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34229" y="2386575"/>
            <a:ext cx="7502153" cy="10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2"/>
              </a:lnSpc>
            </a:pPr>
            <a:r>
              <a:rPr lang="en-US" b="true" sz="6037" i="true">
                <a:solidFill>
                  <a:srgbClr val="3779E3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Project 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8009" y="4438647"/>
            <a:ext cx="8542445" cy="379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1"/>
              </a:lnSpc>
            </a:pPr>
            <a:r>
              <a:rPr lang="en-US" sz="2693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Content:</a:t>
            </a:r>
          </a:p>
          <a:p>
            <a:pPr algn="l" marL="581628" indent="-290814" lvl="1">
              <a:lnSpc>
                <a:spcPts val="3771"/>
              </a:lnSpc>
              <a:buFont typeface="Arial"/>
              <a:buChar char="•"/>
            </a:pPr>
            <a:r>
              <a:rPr lang="en-US" sz="2693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Analyze real estate market behavior and investment opportunities</a:t>
            </a:r>
          </a:p>
          <a:p>
            <a:pPr algn="l" marL="581628" indent="-290814" lvl="1">
              <a:lnSpc>
                <a:spcPts val="3771"/>
              </a:lnSpc>
              <a:buFont typeface="Arial"/>
              <a:buChar char="•"/>
            </a:pPr>
            <a:r>
              <a:rPr lang="en-US" sz="2693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Identify high-demand and high-ROI neighborhoods</a:t>
            </a:r>
          </a:p>
          <a:p>
            <a:pPr algn="l" marL="581628" indent="-290814" lvl="1">
              <a:lnSpc>
                <a:spcPts val="3771"/>
              </a:lnSpc>
              <a:buFont typeface="Arial"/>
              <a:buChar char="•"/>
            </a:pPr>
            <a:r>
              <a:rPr lang="en-US" sz="2693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Support data-driven investment decisions through interactive dashboards</a:t>
            </a:r>
          </a:p>
          <a:p>
            <a:pPr algn="l">
              <a:lnSpc>
                <a:spcPts val="3771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4987896" y="7826557"/>
            <a:ext cx="4556778" cy="2058381"/>
            <a:chOff x="0" y="0"/>
            <a:chExt cx="1200139" cy="542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0139" cy="542125"/>
            </a:xfrm>
            <a:custGeom>
              <a:avLst/>
              <a:gdLst/>
              <a:ahLst/>
              <a:cxnLst/>
              <a:rect r="r" b="b" t="t" l="l"/>
              <a:pathLst>
                <a:path h="542125" w="1200139">
                  <a:moveTo>
                    <a:pt x="0" y="0"/>
                  </a:moveTo>
                  <a:lnTo>
                    <a:pt x="1200139" y="0"/>
                  </a:lnTo>
                  <a:lnTo>
                    <a:pt x="1200139" y="542125"/>
                  </a:lnTo>
                  <a:lnTo>
                    <a:pt x="0" y="542125"/>
                  </a:lnTo>
                  <a:close/>
                </a:path>
              </a:pathLst>
            </a:custGeom>
            <a:solidFill>
              <a:srgbClr val="8D57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1200139" cy="67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0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454196" y="8453196"/>
            <a:ext cx="805104" cy="805104"/>
          </a:xfrm>
          <a:custGeom>
            <a:avLst/>
            <a:gdLst/>
            <a:ahLst/>
            <a:cxnLst/>
            <a:rect r="r" b="b" t="t" l="l"/>
            <a:pathLst>
              <a:path h="805104" w="805104">
                <a:moveTo>
                  <a:pt x="0" y="0"/>
                </a:moveTo>
                <a:lnTo>
                  <a:pt x="805104" y="0"/>
                </a:lnTo>
                <a:lnTo>
                  <a:pt x="805104" y="805104"/>
                </a:lnTo>
                <a:lnTo>
                  <a:pt x="0" y="805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8370" y="2114589"/>
            <a:ext cx="7019004" cy="5844916"/>
          </a:xfrm>
          <a:custGeom>
            <a:avLst/>
            <a:gdLst/>
            <a:ahLst/>
            <a:cxnLst/>
            <a:rect r="r" b="b" t="t" l="l"/>
            <a:pathLst>
              <a:path h="5844916" w="7019004">
                <a:moveTo>
                  <a:pt x="0" y="0"/>
                </a:moveTo>
                <a:lnTo>
                  <a:pt x="7019004" y="0"/>
                </a:lnTo>
                <a:lnTo>
                  <a:pt x="7019004" y="5844916"/>
                </a:lnTo>
                <a:lnTo>
                  <a:pt x="0" y="5844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32107" y="320451"/>
            <a:ext cx="12756332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b="true" sz="5600" i="true">
                <a:solidFill>
                  <a:srgbClr val="3779E3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Market Price Trends (2006–2010)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19452" y="5317433"/>
            <a:ext cx="8732969" cy="4691395"/>
          </a:xfrm>
          <a:custGeom>
            <a:avLst/>
            <a:gdLst/>
            <a:ahLst/>
            <a:cxnLst/>
            <a:rect r="r" b="b" t="t" l="l"/>
            <a:pathLst>
              <a:path h="4691395" w="8732969">
                <a:moveTo>
                  <a:pt x="0" y="0"/>
                </a:moveTo>
                <a:lnTo>
                  <a:pt x="8732969" y="0"/>
                </a:lnTo>
                <a:lnTo>
                  <a:pt x="8732969" y="4691396"/>
                </a:lnTo>
                <a:lnTo>
                  <a:pt x="0" y="46913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67054" y="2181579"/>
            <a:ext cx="9085368" cy="309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Content:</a:t>
            </a:r>
          </a:p>
          <a:p>
            <a:pPr algn="l" marL="474422" indent="-237211" lvl="1">
              <a:lnSpc>
                <a:spcPts val="3076"/>
              </a:lnSpc>
              <a:buFont typeface="Arial"/>
              <a:buChar char="•"/>
            </a:pPr>
            <a:r>
              <a:rPr lang="en-US" sz="2197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Prices increased steadily until 2007, peaking at approximately $174K</a:t>
            </a:r>
          </a:p>
          <a:p>
            <a:pPr algn="l" marL="474422" indent="-237211" lvl="1">
              <a:lnSpc>
                <a:spcPts val="3076"/>
              </a:lnSpc>
              <a:buFont typeface="Arial"/>
              <a:buChar char="•"/>
            </a:pPr>
            <a:r>
              <a:rPr lang="en-US" sz="2197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Significant drop occurred in 2008 due to market instability</a:t>
            </a:r>
          </a:p>
          <a:p>
            <a:pPr algn="l" marL="474422" indent="-237211" lvl="1">
              <a:lnSpc>
                <a:spcPts val="3076"/>
              </a:lnSpc>
              <a:buFont typeface="Arial"/>
              <a:buChar char="•"/>
            </a:pPr>
            <a:r>
              <a:rPr lang="en-US" sz="2197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Partial recovery followed by slight decline in 2010</a:t>
            </a:r>
          </a:p>
          <a:p>
            <a:pPr algn="l" marL="474422" indent="-237211" lvl="1">
              <a:lnSpc>
                <a:spcPts val="3076"/>
              </a:lnSpc>
              <a:buFont typeface="Arial"/>
              <a:buChar char="•"/>
            </a:pPr>
            <a:r>
              <a:rPr lang="en-US" sz="2197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Market volatility highlights the importance of investment</a:t>
            </a:r>
            <a:r>
              <a:rPr lang="en-US" sz="2197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 timing</a:t>
            </a:r>
          </a:p>
          <a:p>
            <a:pPr algn="l">
              <a:lnSpc>
                <a:spcPts val="307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625" y="3224937"/>
            <a:ext cx="6671568" cy="4961221"/>
          </a:xfrm>
          <a:custGeom>
            <a:avLst/>
            <a:gdLst/>
            <a:ahLst/>
            <a:cxnLst/>
            <a:rect r="r" b="b" t="t" l="l"/>
            <a:pathLst>
              <a:path h="4961221" w="6671568">
                <a:moveTo>
                  <a:pt x="0" y="0"/>
                </a:moveTo>
                <a:lnTo>
                  <a:pt x="6671568" y="0"/>
                </a:lnTo>
                <a:lnTo>
                  <a:pt x="6671568" y="4961221"/>
                </a:lnTo>
                <a:lnTo>
                  <a:pt x="0" y="4961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71148" y="4740489"/>
            <a:ext cx="9208891" cy="5233097"/>
          </a:xfrm>
          <a:custGeom>
            <a:avLst/>
            <a:gdLst/>
            <a:ahLst/>
            <a:cxnLst/>
            <a:rect r="r" b="b" t="t" l="l"/>
            <a:pathLst>
              <a:path h="5233097" w="9208891">
                <a:moveTo>
                  <a:pt x="0" y="0"/>
                </a:moveTo>
                <a:lnTo>
                  <a:pt x="9208891" y="0"/>
                </a:lnTo>
                <a:lnTo>
                  <a:pt x="9208891" y="5233097"/>
                </a:lnTo>
                <a:lnTo>
                  <a:pt x="0" y="52330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1376"/>
            <a:ext cx="9017777" cy="9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7"/>
              </a:lnSpc>
            </a:pPr>
            <a:r>
              <a:rPr lang="en-US" b="true" sz="6399" i="true">
                <a:solidFill>
                  <a:srgbClr val="3779E3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Sales Activity by Year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47502" y="2632967"/>
            <a:ext cx="9492186" cy="190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174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Content:</a:t>
            </a:r>
          </a:p>
          <a:p>
            <a:pPr algn="l" marL="469396" indent="-234698" lvl="1">
              <a:lnSpc>
                <a:spcPts val="3043"/>
              </a:lnSpc>
              <a:buFont typeface="Arial"/>
              <a:buChar char="•"/>
            </a:pPr>
            <a:r>
              <a:rPr lang="en-US" sz="2174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High transaction volume from 2006 to 2009 (~600 sales per year)</a:t>
            </a:r>
          </a:p>
          <a:p>
            <a:pPr algn="l" marL="469396" indent="-234698" lvl="1">
              <a:lnSpc>
                <a:spcPts val="3043"/>
              </a:lnSpc>
              <a:buFont typeface="Arial"/>
              <a:buChar char="•"/>
            </a:pPr>
            <a:r>
              <a:rPr lang="en-US" sz="2174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Sharp decline in 2010 (~350 sales), indicating reduced liquidity</a:t>
            </a:r>
          </a:p>
          <a:p>
            <a:pPr algn="l" marL="469396" indent="-234698" lvl="1">
              <a:lnSpc>
                <a:spcPts val="3043"/>
              </a:lnSpc>
              <a:buFont typeface="Arial"/>
              <a:buChar char="•"/>
            </a:pPr>
            <a:r>
              <a:rPr lang="en-US" sz="2174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Sales volume reflects changing market conditions</a:t>
            </a:r>
          </a:p>
          <a:p>
            <a:pPr algn="l">
              <a:lnSpc>
                <a:spcPts val="304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0340" y="9022236"/>
            <a:ext cx="6808854" cy="1552765"/>
            <a:chOff x="0" y="0"/>
            <a:chExt cx="2003775" cy="4569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3775" cy="456963"/>
            </a:xfrm>
            <a:custGeom>
              <a:avLst/>
              <a:gdLst/>
              <a:ahLst/>
              <a:cxnLst/>
              <a:rect r="r" b="b" t="t" l="l"/>
              <a:pathLst>
                <a:path h="456963" w="2003775">
                  <a:moveTo>
                    <a:pt x="0" y="0"/>
                  </a:moveTo>
                  <a:lnTo>
                    <a:pt x="2003775" y="0"/>
                  </a:lnTo>
                  <a:lnTo>
                    <a:pt x="2003775" y="456963"/>
                  </a:lnTo>
                  <a:lnTo>
                    <a:pt x="0" y="456963"/>
                  </a:lnTo>
                  <a:close/>
                </a:path>
              </a:pathLst>
            </a:custGeom>
            <a:solidFill>
              <a:srgbClr val="3779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03775" cy="49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005277" y="8477758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7" y="0"/>
                </a:lnTo>
                <a:lnTo>
                  <a:pt x="4763917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4382" y="3058456"/>
            <a:ext cx="8237978" cy="6740163"/>
          </a:xfrm>
          <a:custGeom>
            <a:avLst/>
            <a:gdLst/>
            <a:ahLst/>
            <a:cxnLst/>
            <a:rect r="r" b="b" t="t" l="l"/>
            <a:pathLst>
              <a:path h="6740163" w="8237978">
                <a:moveTo>
                  <a:pt x="0" y="0"/>
                </a:moveTo>
                <a:lnTo>
                  <a:pt x="8237977" y="0"/>
                </a:lnTo>
                <a:lnTo>
                  <a:pt x="8237977" y="6740163"/>
                </a:lnTo>
                <a:lnTo>
                  <a:pt x="0" y="6740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8" id="8"/>
          <p:cNvSpPr txBox="true"/>
          <p:nvPr/>
        </p:nvSpPr>
        <p:spPr>
          <a:xfrm rot="0">
            <a:off x="3625561" y="1178231"/>
            <a:ext cx="12381252" cy="104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8"/>
              </a:lnSpc>
            </a:pPr>
            <a:r>
              <a:rPr lang="en-US" sz="6120" i="true">
                <a:solidFill>
                  <a:srgbClr val="3779E3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Neighborhood Sales Density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6188" y="6552848"/>
            <a:ext cx="1454903" cy="62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6"/>
              </a:lnSpc>
            </a:pPr>
            <a:r>
              <a:rPr lang="en-US" sz="3711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12K+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33577" y="8126368"/>
            <a:ext cx="1454903" cy="62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6"/>
              </a:lnSpc>
            </a:pPr>
            <a:r>
              <a:rPr lang="en-US" sz="3711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3K+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33577" y="4372196"/>
            <a:ext cx="9454423" cy="351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7"/>
              </a:lnSpc>
            </a:pPr>
            <a:r>
              <a:rPr lang="en-US" sz="2891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Content:</a:t>
            </a:r>
          </a:p>
          <a:p>
            <a:pPr algn="l" marL="624200" indent="-312100" lvl="1">
              <a:lnSpc>
                <a:spcPts val="4047"/>
              </a:lnSpc>
              <a:buFont typeface="Arial"/>
              <a:buChar char="•"/>
            </a:pPr>
            <a:r>
              <a:rPr lang="en-US" sz="2891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NAmes and CollgCr show the highest sales activity</a:t>
            </a:r>
          </a:p>
          <a:p>
            <a:pPr algn="l" marL="624200" indent="-312100" lvl="1">
              <a:lnSpc>
                <a:spcPts val="4047"/>
              </a:lnSpc>
              <a:buFont typeface="Arial"/>
              <a:buChar char="•"/>
            </a:pPr>
            <a:r>
              <a:rPr lang="en-US" sz="2891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NridgHt maintains stable demand with moderate activity</a:t>
            </a:r>
          </a:p>
          <a:p>
            <a:pPr algn="l" marL="624200" indent="-312100" lvl="1">
              <a:lnSpc>
                <a:spcPts val="4047"/>
              </a:lnSpc>
              <a:buFont typeface="Arial"/>
              <a:buChar char="•"/>
            </a:pPr>
            <a:r>
              <a:rPr lang="en-US" sz="2891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High-demand areas present lower liquidity risk</a:t>
            </a:r>
          </a:p>
          <a:p>
            <a:pPr algn="l">
              <a:lnSpc>
                <a:spcPts val="404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113843" y="8707826"/>
            <a:ext cx="5311910" cy="5311910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55895" y="3069353"/>
            <a:ext cx="6437352" cy="5231457"/>
          </a:xfrm>
          <a:custGeom>
            <a:avLst/>
            <a:gdLst/>
            <a:ahLst/>
            <a:cxnLst/>
            <a:rect r="r" b="b" t="t" l="l"/>
            <a:pathLst>
              <a:path h="5231457" w="6437352">
                <a:moveTo>
                  <a:pt x="0" y="0"/>
                </a:moveTo>
                <a:lnTo>
                  <a:pt x="6437352" y="0"/>
                </a:lnTo>
                <a:lnTo>
                  <a:pt x="6437352" y="5231458"/>
                </a:lnTo>
                <a:lnTo>
                  <a:pt x="0" y="52314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41540" y="419417"/>
            <a:ext cx="11604921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b="true" sz="6399" i="true">
                <a:solidFill>
                  <a:srgbClr val="3779E3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Housing Type Preferences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411" y="4279429"/>
            <a:ext cx="11081167" cy="350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7"/>
              </a:lnSpc>
            </a:pPr>
            <a:r>
              <a:rPr lang="en-US" sz="2848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Content:</a:t>
            </a:r>
          </a:p>
          <a:p>
            <a:pPr algn="l" marL="615005" indent="-307502" lvl="1">
              <a:lnSpc>
                <a:spcPts val="3987"/>
              </a:lnSpc>
              <a:buFont typeface="Arial"/>
              <a:buChar char="•"/>
            </a:pPr>
            <a:r>
              <a:rPr lang="en-US" sz="2848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1St</a:t>
            </a:r>
            <a:r>
              <a:rPr lang="en-US" sz="2848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ory homes account for nearly 50% of total sales</a:t>
            </a:r>
          </a:p>
          <a:p>
            <a:pPr algn="l" marL="615005" indent="-307502" lvl="1">
              <a:lnSpc>
                <a:spcPts val="3987"/>
              </a:lnSpc>
              <a:buFont typeface="Arial"/>
              <a:buChar char="•"/>
            </a:pPr>
            <a:r>
              <a:rPr lang="en-US" sz="2848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2Story homes represent around 30%</a:t>
            </a:r>
          </a:p>
          <a:p>
            <a:pPr algn="l" marL="615005" indent="-307502" lvl="1">
              <a:lnSpc>
                <a:spcPts val="3987"/>
              </a:lnSpc>
              <a:buFont typeface="Arial"/>
              <a:buChar char="•"/>
            </a:pPr>
            <a:r>
              <a:rPr lang="en-US" sz="2848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Other housing types have limited demand</a:t>
            </a:r>
          </a:p>
          <a:p>
            <a:pPr algn="l" marL="615005" indent="-307502" lvl="1">
              <a:lnSpc>
                <a:spcPts val="3987"/>
              </a:lnSpc>
              <a:buFont typeface="Arial"/>
              <a:buChar char="•"/>
            </a:pPr>
            <a:r>
              <a:rPr lang="en-US" sz="2848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Focus on dominant housing types improves resale potential</a:t>
            </a:r>
          </a:p>
          <a:p>
            <a:pPr algn="l">
              <a:lnSpc>
                <a:spcPts val="398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42986" y="2219679"/>
            <a:ext cx="6116314" cy="7552465"/>
          </a:xfrm>
          <a:custGeom>
            <a:avLst/>
            <a:gdLst/>
            <a:ahLst/>
            <a:cxnLst/>
            <a:rect r="r" b="b" t="t" l="l"/>
            <a:pathLst>
              <a:path h="7552465" w="6116314">
                <a:moveTo>
                  <a:pt x="0" y="0"/>
                </a:moveTo>
                <a:lnTo>
                  <a:pt x="6116314" y="0"/>
                </a:lnTo>
                <a:lnTo>
                  <a:pt x="6116314" y="7552465"/>
                </a:lnTo>
                <a:lnTo>
                  <a:pt x="0" y="7552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25342" y="5392223"/>
            <a:ext cx="3594370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Strategy 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47493" y="5392223"/>
            <a:ext cx="3594370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Strategy 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88" y="5392223"/>
            <a:ext cx="3594370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Strategy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44111" y="606399"/>
            <a:ext cx="12859710" cy="75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12"/>
              </a:lnSpc>
            </a:pPr>
            <a:r>
              <a:rPr lang="en-US" b="true" sz="4437" i="true">
                <a:solidFill>
                  <a:srgbClr val="3779E3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 Price Variation Across Neighborhoods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6390" y="2980596"/>
            <a:ext cx="9657749" cy="465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</a:pPr>
            <a:r>
              <a:rPr lang="en-US" sz="2932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Content:</a:t>
            </a:r>
          </a:p>
          <a:p>
            <a:pPr algn="l" marL="633065" indent="-316533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Significant price differences exist between neighborhoods</a:t>
            </a:r>
          </a:p>
          <a:p>
            <a:pPr algn="l" marL="633065" indent="-316533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Blueste leads the market as a premium area</a:t>
            </a:r>
          </a:p>
          <a:p>
            <a:pPr algn="l" marL="633065" indent="-316533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NAmes offers balanced pricing with high demand</a:t>
            </a:r>
          </a:p>
          <a:p>
            <a:pPr algn="l" marL="633065" indent="-316533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Edwards provides lower entry costs but weaker demand</a:t>
            </a:r>
          </a:p>
          <a:p>
            <a:pPr algn="l">
              <a:lnSpc>
                <a:spcPts val="410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56895" y="4856527"/>
            <a:ext cx="9485229" cy="4985595"/>
          </a:xfrm>
          <a:custGeom>
            <a:avLst/>
            <a:gdLst/>
            <a:ahLst/>
            <a:cxnLst/>
            <a:rect r="r" b="b" t="t" l="l"/>
            <a:pathLst>
              <a:path h="4985595" w="9485229">
                <a:moveTo>
                  <a:pt x="0" y="0"/>
                </a:moveTo>
                <a:lnTo>
                  <a:pt x="9485229" y="0"/>
                </a:lnTo>
                <a:lnTo>
                  <a:pt x="9485229" y="4985594"/>
                </a:lnTo>
                <a:lnTo>
                  <a:pt x="0" y="4985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9330" y="2568841"/>
            <a:ext cx="9072038" cy="391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3"/>
              </a:lnSpc>
            </a:pPr>
            <a:r>
              <a:rPr lang="en-US" sz="2774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Content:</a:t>
            </a:r>
          </a:p>
          <a:p>
            <a:pPr algn="l" marL="598954" indent="-299477" lvl="1">
              <a:lnSpc>
                <a:spcPts val="3883"/>
              </a:lnSpc>
              <a:buFont typeface="Arial"/>
              <a:buChar char="•"/>
            </a:pPr>
            <a:r>
              <a:rPr lang="en-US" sz="2774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Strong positive relationship between size and price</a:t>
            </a:r>
          </a:p>
          <a:p>
            <a:pPr algn="l" marL="598954" indent="-299477" lvl="1">
              <a:lnSpc>
                <a:spcPts val="3883"/>
              </a:lnSpc>
              <a:buFont typeface="Arial"/>
              <a:buChar char="•"/>
            </a:pPr>
            <a:r>
              <a:rPr lang="en-US" sz="2774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Premium pricing observed in select mid-sized properties</a:t>
            </a:r>
          </a:p>
          <a:p>
            <a:pPr algn="l" marL="598954" indent="-299477" lvl="1">
              <a:lnSpc>
                <a:spcPts val="3883"/>
              </a:lnSpc>
              <a:buFont typeface="Arial"/>
              <a:buChar char="•"/>
            </a:pPr>
            <a:r>
              <a:rPr lang="en-US" sz="2774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Location and quality strongly influence valuation</a:t>
            </a:r>
          </a:p>
          <a:p>
            <a:pPr algn="l">
              <a:lnSpc>
                <a:spcPts val="388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122796" y="718371"/>
            <a:ext cx="12449598" cy="103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b="true" sz="7200" i="true">
                <a:solidFill>
                  <a:srgbClr val="3779E3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Property Size vs Sale Price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66577" y="4182622"/>
            <a:ext cx="7694512" cy="4159778"/>
          </a:xfrm>
          <a:custGeom>
            <a:avLst/>
            <a:gdLst/>
            <a:ahLst/>
            <a:cxnLst/>
            <a:rect r="r" b="b" t="t" l="l"/>
            <a:pathLst>
              <a:path h="4159778" w="7694512">
                <a:moveTo>
                  <a:pt x="0" y="0"/>
                </a:moveTo>
                <a:lnTo>
                  <a:pt x="7694512" y="0"/>
                </a:lnTo>
                <a:lnTo>
                  <a:pt x="7694512" y="4159778"/>
                </a:lnTo>
                <a:lnTo>
                  <a:pt x="0" y="41597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58281" y="371453"/>
            <a:ext cx="10665733" cy="23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6"/>
              </a:lnSpc>
            </a:pPr>
            <a:r>
              <a:rPr lang="en-US" b="true" sz="9600" i="true">
                <a:solidFill>
                  <a:srgbClr val="3779E3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Zoning Impact on Market Value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88148" y="2212169"/>
            <a:ext cx="1625958" cy="99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9"/>
              </a:lnSpc>
            </a:pPr>
            <a:r>
              <a:rPr lang="en-US" sz="5835" b="true">
                <a:solidFill>
                  <a:srgbClr val="FDFDF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60K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04612" y="4342798"/>
            <a:ext cx="7532489" cy="378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</a:pPr>
            <a:r>
              <a:rPr lang="en-US" sz="268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Content:</a:t>
            </a:r>
          </a:p>
          <a:p>
            <a:pPr algn="l" marL="578709" indent="-289355" lvl="1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RL zoning dominates total sales value (~$402M)</a:t>
            </a:r>
          </a:p>
          <a:p>
            <a:pPr algn="l" marL="578709" indent="-289355" lvl="1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RM zoning follows with moderate market share</a:t>
            </a:r>
          </a:p>
          <a:p>
            <a:pPr algn="l" marL="578709" indent="-289355" lvl="1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Investors prefer low-density residential zones</a:t>
            </a:r>
          </a:p>
          <a:p>
            <a:pPr algn="l">
              <a:lnSpc>
                <a:spcPts val="3752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454196" y="8747933"/>
            <a:ext cx="805104" cy="805104"/>
          </a:xfrm>
          <a:custGeom>
            <a:avLst/>
            <a:gdLst/>
            <a:ahLst/>
            <a:cxnLst/>
            <a:rect r="r" b="b" t="t" l="l"/>
            <a:pathLst>
              <a:path h="805104" w="805104">
                <a:moveTo>
                  <a:pt x="0" y="0"/>
                </a:moveTo>
                <a:lnTo>
                  <a:pt x="805104" y="0"/>
                </a:lnTo>
                <a:lnTo>
                  <a:pt x="805104" y="805103"/>
                </a:lnTo>
                <a:lnTo>
                  <a:pt x="0" y="8051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4241" y="1444400"/>
            <a:ext cx="6842469" cy="6382158"/>
          </a:xfrm>
          <a:custGeom>
            <a:avLst/>
            <a:gdLst/>
            <a:ahLst/>
            <a:cxnLst/>
            <a:rect r="r" b="b" t="t" l="l"/>
            <a:pathLst>
              <a:path h="6382158" w="6842469">
                <a:moveTo>
                  <a:pt x="0" y="0"/>
                </a:moveTo>
                <a:lnTo>
                  <a:pt x="6842469" y="0"/>
                </a:lnTo>
                <a:lnTo>
                  <a:pt x="6842469" y="6382157"/>
                </a:lnTo>
                <a:lnTo>
                  <a:pt x="0" y="6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823528" y="914400"/>
            <a:ext cx="5467089" cy="108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1"/>
              </a:lnSpc>
            </a:pPr>
            <a:r>
              <a:rPr lang="en-US" b="true" sz="6415" i="true">
                <a:solidFill>
                  <a:srgbClr val="3779E3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Key Insights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89449" y="3739924"/>
            <a:ext cx="10231290" cy="471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666" indent="-320833" lvl="1">
              <a:lnSpc>
                <a:spcPts val="4160"/>
              </a:lnSpc>
              <a:buFont typeface="Arial"/>
              <a:buChar char="•"/>
            </a:pPr>
            <a:r>
              <a:rPr lang="en-US" sz="2972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Market demand and ROI are highly location-dependent</a:t>
            </a:r>
          </a:p>
          <a:p>
            <a:pPr algn="l" marL="641666" indent="-320833" lvl="1">
              <a:lnSpc>
                <a:spcPts val="4160"/>
              </a:lnSpc>
              <a:buFont typeface="Arial"/>
              <a:buChar char="•"/>
            </a:pPr>
            <a:r>
              <a:rPr lang="en-US" sz="2972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High-activity neighborhoods offer safer investments</a:t>
            </a:r>
          </a:p>
          <a:p>
            <a:pPr algn="l" marL="641666" indent="-320833" lvl="1">
              <a:lnSpc>
                <a:spcPts val="4160"/>
              </a:lnSpc>
              <a:buFont typeface="Arial"/>
              <a:buChar char="•"/>
            </a:pPr>
            <a:r>
              <a:rPr lang="en-US" sz="2972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Premium areas deliver higher returns with higher capital</a:t>
            </a:r>
          </a:p>
          <a:p>
            <a:pPr algn="l" marL="641666" indent="-320833" lvl="1">
              <a:lnSpc>
                <a:spcPts val="4160"/>
              </a:lnSpc>
              <a:buFont typeface="Arial"/>
              <a:buChar char="•"/>
            </a:pPr>
            <a:r>
              <a:rPr lang="en-US" sz="2972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Dashboard enables informed, data-driven investment decisions</a:t>
            </a:r>
          </a:p>
          <a:p>
            <a:pPr algn="l">
              <a:lnSpc>
                <a:spcPts val="416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3332671" y="8121294"/>
            <a:ext cx="4556778" cy="2058381"/>
            <a:chOff x="0" y="0"/>
            <a:chExt cx="1200139" cy="542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0139" cy="542125"/>
            </a:xfrm>
            <a:custGeom>
              <a:avLst/>
              <a:gdLst/>
              <a:ahLst/>
              <a:cxnLst/>
              <a:rect r="r" b="b" t="t" l="l"/>
              <a:pathLst>
                <a:path h="542125" w="1200139">
                  <a:moveTo>
                    <a:pt x="0" y="0"/>
                  </a:moveTo>
                  <a:lnTo>
                    <a:pt x="1200139" y="0"/>
                  </a:lnTo>
                  <a:lnTo>
                    <a:pt x="1200139" y="542125"/>
                  </a:lnTo>
                  <a:lnTo>
                    <a:pt x="0" y="542125"/>
                  </a:lnTo>
                  <a:close/>
                </a:path>
              </a:pathLst>
            </a:custGeom>
            <a:solidFill>
              <a:srgbClr val="8D57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1200139" cy="67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0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454196" y="8453196"/>
            <a:ext cx="805104" cy="805104"/>
          </a:xfrm>
          <a:custGeom>
            <a:avLst/>
            <a:gdLst/>
            <a:ahLst/>
            <a:cxnLst/>
            <a:rect r="r" b="b" t="t" l="l"/>
            <a:pathLst>
              <a:path h="805104" w="805104">
                <a:moveTo>
                  <a:pt x="0" y="0"/>
                </a:moveTo>
                <a:lnTo>
                  <a:pt x="805104" y="0"/>
                </a:lnTo>
                <a:lnTo>
                  <a:pt x="805104" y="805104"/>
                </a:lnTo>
                <a:lnTo>
                  <a:pt x="0" y="805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44753" y="2123224"/>
            <a:ext cx="3198495" cy="3204321"/>
          </a:xfrm>
          <a:custGeom>
            <a:avLst/>
            <a:gdLst/>
            <a:ahLst/>
            <a:cxnLst/>
            <a:rect r="r" b="b" t="t" l="l"/>
            <a:pathLst>
              <a:path h="3204321" w="3198495">
                <a:moveTo>
                  <a:pt x="0" y="0"/>
                </a:moveTo>
                <a:lnTo>
                  <a:pt x="3198494" y="0"/>
                </a:lnTo>
                <a:lnTo>
                  <a:pt x="3198494" y="3204320"/>
                </a:lnTo>
                <a:lnTo>
                  <a:pt x="0" y="320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73887" y="6163399"/>
            <a:ext cx="14140225" cy="157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4"/>
              </a:lnSpc>
            </a:pPr>
            <a:r>
              <a:rPr lang="en-US" b="true" sz="14400" i="true">
                <a:solidFill>
                  <a:srgbClr val="3779E3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039174" y="8570340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7" y="0"/>
                </a:lnTo>
                <a:lnTo>
                  <a:pt x="4763917" y="2381958"/>
                </a:lnTo>
                <a:lnTo>
                  <a:pt x="0" y="2381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DAG8nn20peg</dc:identifier>
  <dcterms:modified xsi:type="dcterms:W3CDTF">2011-08-01T06:04:30Z</dcterms:modified>
  <cp:revision>1</cp:revision>
  <dc:title>Blue and Purple Illustrative Simple Sales Report Presentation</dc:title>
</cp:coreProperties>
</file>